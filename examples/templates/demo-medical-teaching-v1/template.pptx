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Native chart placeholder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平均分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课前</c:v>
                  </c:pt>
                  <c:pt idx="1">
                    <c:v>讲授后</c:v>
                  </c:pt>
                  <c:pt idx="2">
                    <c:v>案例后</c:v>
                  </c:pt>
                  <c:pt idx="3">
                    <c:v>复盘后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达标率</c:v>
                </c:pt>
              </c:strCache>
            </c:strRef>
          </c:tx>
          <c:spPr>
            <a:solidFill>
              <a:srgbClr val="0F766E"/>
            </a:solidFill>
            <a:ln w="254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课前</c:v>
                  </c:pt>
                  <c:pt idx="1">
                    <c:v>讲授后</c:v>
                  </c:pt>
                  <c:pt idx="2">
                    <c:v>案例后</c:v>
                  </c:pt>
                  <c:pt idx="3">
                    <c:v>复盘后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62</c:v>
                </c:pt>
                <c:pt idx="2">
                  <c:v>74</c:v>
                </c:pt>
                <c:pt idx="3">
                  <c:v>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:canvas"/>
          <p:cNvSpPr/>
          <p:nvPr/>
        </p:nvSpPr>
        <p:spPr>
          <a:xfrm>
            <a:off x="256032" y="237744"/>
            <a:ext cx="11686032" cy="635508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chrome:accent"/>
          <p:cNvSpPr/>
          <p:nvPr/>
        </p:nvSpPr>
        <p:spPr>
          <a:xfrm>
            <a:off x="493776" y="475488"/>
            <a:ext cx="91440" cy="5852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chrome:kicker"/>
          <p:cNvSpPr/>
          <p:nvPr/>
        </p:nvSpPr>
        <p:spPr>
          <a:xfrm>
            <a:off x="713232" y="786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DEMO TEMPLATE</a:t>
            </a:r>
            <a:endParaRPr lang="en-US" sz="1000" dirty="0"/>
          </a:p>
        </p:txBody>
      </p:sp>
      <p:sp>
        <p:nvSpPr>
          <p:cNvPr id="5" name="ph:title"/>
          <p:cNvSpPr/>
          <p:nvPr/>
        </p:nvSpPr>
        <p:spPr>
          <a:xfrm>
            <a:off x="658368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title</a:t>
            </a:r>
            <a:endParaRPr lang="en-US" sz="3400" dirty="0"/>
          </a:p>
        </p:txBody>
      </p:sp>
      <p:sp>
        <p:nvSpPr>
          <p:cNvPr id="6" name="ph:speaker"/>
          <p:cNvSpPr/>
          <p:nvPr/>
        </p:nvSpPr>
        <p:spPr>
          <a:xfrm>
            <a:off x="713232" y="43434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Speaker</a:t>
            </a:r>
            <a:endParaRPr lang="en-US" sz="1400" dirty="0"/>
          </a:p>
        </p:txBody>
      </p:sp>
      <p:sp>
        <p:nvSpPr>
          <p:cNvPr id="7" name="ph:date"/>
          <p:cNvSpPr/>
          <p:nvPr/>
        </p:nvSpPr>
        <p:spPr>
          <a:xfrm>
            <a:off x="713232" y="47731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Date</a:t>
            </a:r>
            <a:endParaRPr lang="en-US" sz="1400" dirty="0"/>
          </a:p>
        </p:txBody>
      </p:sp>
      <p:pic>
        <p:nvPicPr>
          <p:cNvPr id="8" name="ph:coverImage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240" y="1225296"/>
            <a:ext cx="3456432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:canvas"/>
          <p:cNvSpPr/>
          <p:nvPr/>
        </p:nvSpPr>
        <p:spPr>
          <a:xfrm>
            <a:off x="256032" y="237744"/>
            <a:ext cx="11686032" cy="635508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chrome:accent"/>
          <p:cNvSpPr/>
          <p:nvPr/>
        </p:nvSpPr>
        <p:spPr>
          <a:xfrm>
            <a:off x="493776" y="475488"/>
            <a:ext cx="91440" cy="5852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chrome:kicker"/>
          <p:cNvSpPr/>
          <p:nvPr/>
        </p:nvSpPr>
        <p:spPr>
          <a:xfrm>
            <a:off x="713232" y="786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DEMO TEMPLATE</a:t>
            </a:r>
            <a:endParaRPr lang="en-US" sz="1000" dirty="0"/>
          </a:p>
        </p:txBody>
      </p:sp>
      <p:sp>
        <p:nvSpPr>
          <p:cNvPr id="5" name="ph:title"/>
          <p:cNvSpPr/>
          <p:nvPr/>
        </p:nvSpPr>
        <p:spPr>
          <a:xfrm>
            <a:off x="713232" y="804672"/>
            <a:ext cx="9921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Teaching goals</a:t>
            </a:r>
            <a:endParaRPr lang="en-US" sz="2500" dirty="0"/>
          </a:p>
        </p:txBody>
      </p:sp>
      <p:sp>
        <p:nvSpPr>
          <p:cNvPr id="6" name="chrome:panel"/>
          <p:cNvSpPr/>
          <p:nvPr/>
        </p:nvSpPr>
        <p:spPr>
          <a:xfrm>
            <a:off x="713232" y="1691640"/>
            <a:ext cx="10744200" cy="3840480"/>
          </a:xfrm>
          <a:prstGeom prst="roundRect">
            <a:avLst>
              <a:gd name="adj" fmla="val 1905"/>
            </a:avLst>
          </a:prstGeom>
          <a:solidFill>
            <a:srgbClr val="DBEAFE">
              <a:alpha val="82000"/>
            </a:srgbClr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7" name="ph:goals"/>
          <p:cNvSpPr/>
          <p:nvPr/>
        </p:nvSpPr>
        <p:spPr>
          <a:xfrm>
            <a:off x="1115568" y="2084832"/>
            <a:ext cx="9921240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</a:rPr>
              <a:t>1. Goal item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</a:rPr>
              <a:t>2. Goal item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</a:rPr>
              <a:t>3. Goal item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:canvas"/>
          <p:cNvSpPr/>
          <p:nvPr/>
        </p:nvSpPr>
        <p:spPr>
          <a:xfrm>
            <a:off x="256032" y="237744"/>
            <a:ext cx="11686032" cy="635508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chrome:accent"/>
          <p:cNvSpPr/>
          <p:nvPr/>
        </p:nvSpPr>
        <p:spPr>
          <a:xfrm>
            <a:off x="493776" y="475488"/>
            <a:ext cx="91440" cy="5852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ph:sectionLabel"/>
          <p:cNvSpPr/>
          <p:nvPr/>
        </p:nvSpPr>
        <p:spPr>
          <a:xfrm>
            <a:off x="822960" y="1920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Part label</a:t>
            </a:r>
            <a:endParaRPr lang="en-US" sz="1800" dirty="0"/>
          </a:p>
        </p:txBody>
      </p:sp>
      <p:sp>
        <p:nvSpPr>
          <p:cNvPr id="5" name="ph:title"/>
          <p:cNvSpPr/>
          <p:nvPr/>
        </p:nvSpPr>
        <p:spPr>
          <a:xfrm>
            <a:off x="804672" y="2487168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Section title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:canvas"/>
          <p:cNvSpPr/>
          <p:nvPr/>
        </p:nvSpPr>
        <p:spPr>
          <a:xfrm>
            <a:off x="256032" y="237744"/>
            <a:ext cx="11686032" cy="635508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chrome:accent"/>
          <p:cNvSpPr/>
          <p:nvPr/>
        </p:nvSpPr>
        <p:spPr>
          <a:xfrm>
            <a:off x="493776" y="475488"/>
            <a:ext cx="91440" cy="5852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chrome:kicker"/>
          <p:cNvSpPr/>
          <p:nvPr/>
        </p:nvSpPr>
        <p:spPr>
          <a:xfrm>
            <a:off x="713232" y="786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DEMO TEMPLATE</a:t>
            </a:r>
            <a:endParaRPr lang="en-US" sz="1000" dirty="0"/>
          </a:p>
        </p:txBody>
      </p:sp>
      <p:sp>
        <p:nvSpPr>
          <p:cNvPr id="5" name="ph:title"/>
          <p:cNvSpPr/>
          <p:nvPr/>
        </p:nvSpPr>
        <p:spPr>
          <a:xfrm>
            <a:off x="713232" y="804672"/>
            <a:ext cx="9921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Chapter content</a:t>
            </a:r>
            <a:endParaRPr lang="en-US" sz="2500" dirty="0"/>
          </a:p>
        </p:txBody>
      </p:sp>
      <p:sp>
        <p:nvSpPr>
          <p:cNvPr id="6" name="chrome:panel"/>
          <p:cNvSpPr/>
          <p:nvPr/>
        </p:nvSpPr>
        <p:spPr>
          <a:xfrm>
            <a:off x="713232" y="1463040"/>
            <a:ext cx="10744200" cy="4297680"/>
          </a:xfrm>
          <a:prstGeom prst="roundRect">
            <a:avLst>
              <a:gd name="adj" fmla="val 1702"/>
            </a:avLst>
          </a:prstGeom>
          <a:solidFill>
            <a:srgbClr val="DBEAFE">
              <a:alpha val="82000"/>
            </a:srgbClr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7" name="ph:items"/>
          <p:cNvSpPr/>
          <p:nvPr/>
        </p:nvSpPr>
        <p:spPr>
          <a:xfrm>
            <a:off x="1078992" y="1847088"/>
            <a:ext cx="10012680" cy="3456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1. Key point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2. Key point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3. Key point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:canvas"/>
          <p:cNvSpPr/>
          <p:nvPr/>
        </p:nvSpPr>
        <p:spPr>
          <a:xfrm>
            <a:off x="256032" y="237744"/>
            <a:ext cx="11686032" cy="635508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chrome:accent"/>
          <p:cNvSpPr/>
          <p:nvPr/>
        </p:nvSpPr>
        <p:spPr>
          <a:xfrm>
            <a:off x="493776" y="475488"/>
            <a:ext cx="91440" cy="5852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chrome:kicker"/>
          <p:cNvSpPr/>
          <p:nvPr/>
        </p:nvSpPr>
        <p:spPr>
          <a:xfrm>
            <a:off x="713232" y="786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DEMO TEMPLATE</a:t>
            </a:r>
            <a:endParaRPr lang="en-US" sz="1000" dirty="0"/>
          </a:p>
        </p:txBody>
      </p:sp>
      <p:sp>
        <p:nvSpPr>
          <p:cNvPr id="5" name="ph:title"/>
          <p:cNvSpPr/>
          <p:nvPr/>
        </p:nvSpPr>
        <p:spPr>
          <a:xfrm>
            <a:off x="713232" y="804672"/>
            <a:ext cx="9921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Assessment table</a:t>
            </a:r>
            <a:endParaRPr lang="en-US" sz="2500" dirty="0"/>
          </a:p>
        </p:txBody>
      </p:sp>
      <p:graphicFrame>
        <p:nvGraphicFramePr>
          <p:cNvPr id="6" name="ph:assessmen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627632"/>
          <a:ext cx="10314432" cy="4069080"/>
        </p:xfrm>
        <a:graphic>
          <a:graphicData uri="http://schemas.openxmlformats.org/drawingml/2006/table">
            <a:tbl>
              <a:tblPr/>
              <a:tblGrid>
                <a:gridCol w="3438144"/>
                <a:gridCol w="3438144"/>
                <a:gridCol w="3438144"/>
              </a:tblGrid>
              <a:tr h="1017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项目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观察要点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教学提示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意识状态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清醒度与配合度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用案例引导观察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生命体征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趋势变化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强调记录频率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风险因素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跌倒与管路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结合评分表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:canvas"/>
          <p:cNvSpPr/>
          <p:nvPr/>
        </p:nvSpPr>
        <p:spPr>
          <a:xfrm>
            <a:off x="256032" y="237744"/>
            <a:ext cx="11686032" cy="635508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chrome:accent"/>
          <p:cNvSpPr/>
          <p:nvPr/>
        </p:nvSpPr>
        <p:spPr>
          <a:xfrm>
            <a:off x="493776" y="475488"/>
            <a:ext cx="91440" cy="5852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chrome:kicker"/>
          <p:cNvSpPr/>
          <p:nvPr/>
        </p:nvSpPr>
        <p:spPr>
          <a:xfrm>
            <a:off x="713232" y="786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DEMO TEMPLATE</a:t>
            </a:r>
            <a:endParaRPr lang="en-US" sz="1000" dirty="0"/>
          </a:p>
        </p:txBody>
      </p:sp>
      <p:sp>
        <p:nvSpPr>
          <p:cNvPr id="5" name="ph:title"/>
          <p:cNvSpPr/>
          <p:nvPr/>
        </p:nvSpPr>
        <p:spPr>
          <a:xfrm>
            <a:off x="713232" y="804672"/>
            <a:ext cx="9921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Score trend</a:t>
            </a:r>
            <a:endParaRPr lang="en-US" sz="2500" dirty="0"/>
          </a:p>
        </p:txBody>
      </p:sp>
      <p:pic>
        <p:nvPicPr>
          <p:cNvPr id="6" name="ph:scoreChart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1527048"/>
            <a:ext cx="101041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:canvas"/>
          <p:cNvSpPr/>
          <p:nvPr/>
        </p:nvSpPr>
        <p:spPr>
          <a:xfrm>
            <a:off x="256032" y="237744"/>
            <a:ext cx="11686032" cy="635508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chrome:accent"/>
          <p:cNvSpPr/>
          <p:nvPr/>
        </p:nvSpPr>
        <p:spPr>
          <a:xfrm>
            <a:off x="493776" y="475488"/>
            <a:ext cx="91440" cy="5852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chrome:kicker"/>
          <p:cNvSpPr/>
          <p:nvPr/>
        </p:nvSpPr>
        <p:spPr>
          <a:xfrm>
            <a:off x="713232" y="786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DEMO TEMPLATE</a:t>
            </a:r>
            <a:endParaRPr lang="en-US" sz="1000" dirty="0"/>
          </a:p>
        </p:txBody>
      </p:sp>
      <p:sp>
        <p:nvSpPr>
          <p:cNvPr id="5" name="ph:title"/>
          <p:cNvSpPr/>
          <p:nvPr/>
        </p:nvSpPr>
        <p:spPr>
          <a:xfrm>
            <a:off x="713232" y="804672"/>
            <a:ext cx="9921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Editable chart</a:t>
            </a:r>
            <a:endParaRPr lang="en-US" sz="2500" dirty="0"/>
          </a:p>
        </p:txBody>
      </p:sp>
      <p:graphicFrame>
        <p:nvGraphicFramePr>
          <p:cNvPr id="6" name="ph:nativeScoreChart" descr=""/>
          <p:cNvGraphicFramePr/>
          <p:nvPr/>
        </p:nvGraphicFramePr>
        <p:xfrm>
          <a:off x="987552" y="1572768"/>
          <a:ext cx="10040112" cy="4224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:canvas"/>
          <p:cNvSpPr/>
          <p:nvPr/>
        </p:nvSpPr>
        <p:spPr>
          <a:xfrm>
            <a:off x="256032" y="237744"/>
            <a:ext cx="11686032" cy="635508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chrome:accent"/>
          <p:cNvSpPr/>
          <p:nvPr/>
        </p:nvSpPr>
        <p:spPr>
          <a:xfrm>
            <a:off x="493776" y="475488"/>
            <a:ext cx="91440" cy="5852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chrome:kicker"/>
          <p:cNvSpPr/>
          <p:nvPr/>
        </p:nvSpPr>
        <p:spPr>
          <a:xfrm>
            <a:off x="713232" y="786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DEMO TEMPLATE</a:t>
            </a:r>
            <a:endParaRPr lang="en-US" sz="1000" dirty="0"/>
          </a:p>
        </p:txBody>
      </p:sp>
      <p:sp>
        <p:nvSpPr>
          <p:cNvPr id="5" name="ph:title"/>
          <p:cNvSpPr/>
          <p:nvPr/>
        </p:nvSpPr>
        <p:spPr>
          <a:xfrm>
            <a:off x="713232" y="804672"/>
            <a:ext cx="9921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Summary</a:t>
            </a:r>
            <a:endParaRPr lang="en-US" sz="2500" dirty="0"/>
          </a:p>
        </p:txBody>
      </p:sp>
      <p:sp>
        <p:nvSpPr>
          <p:cNvPr id="6" name="chrome:panel"/>
          <p:cNvSpPr/>
          <p:nvPr/>
        </p:nvSpPr>
        <p:spPr>
          <a:xfrm>
            <a:off x="713232" y="1600200"/>
            <a:ext cx="10744200" cy="4160520"/>
          </a:xfrm>
          <a:prstGeom prst="roundRect">
            <a:avLst>
              <a:gd name="adj" fmla="val 1758"/>
            </a:avLst>
          </a:prstGeom>
          <a:solidFill>
            <a:srgbClr val="DBEAFE">
              <a:alpha val="82000"/>
            </a:srgbClr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7" name="ph:summary"/>
          <p:cNvSpPr/>
          <p:nvPr/>
        </p:nvSpPr>
        <p:spPr>
          <a:xfrm>
            <a:off x="1078992" y="2029968"/>
            <a:ext cx="1001268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033"/>
                </a:solidFill>
              </a:rPr>
              <a:t>1. Summary item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033"/>
                </a:solidFill>
              </a:rPr>
              <a:t>2. Summary item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:canvas"/>
          <p:cNvSpPr/>
          <p:nvPr/>
        </p:nvSpPr>
        <p:spPr>
          <a:xfrm>
            <a:off x="256032" y="237744"/>
            <a:ext cx="11686032" cy="635508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chrome:accent"/>
          <p:cNvSpPr/>
          <p:nvPr/>
        </p:nvSpPr>
        <p:spPr>
          <a:xfrm>
            <a:off x="493776" y="475488"/>
            <a:ext cx="91440" cy="5852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chrome:kicker"/>
          <p:cNvSpPr/>
          <p:nvPr/>
        </p:nvSpPr>
        <p:spPr>
          <a:xfrm>
            <a:off x="713232" y="786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DEMO TEMPLATE</a:t>
            </a:r>
            <a:endParaRPr lang="en-US" sz="1000" dirty="0"/>
          </a:p>
        </p:txBody>
      </p:sp>
      <p:sp>
        <p:nvSpPr>
          <p:cNvPr id="5" name="ph:title"/>
          <p:cNvSpPr/>
          <p:nvPr/>
        </p:nvSpPr>
        <p:spPr>
          <a:xfrm>
            <a:off x="713232" y="804672"/>
            <a:ext cx="9921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Evaluation</a:t>
            </a:r>
            <a:endParaRPr lang="en-US" sz="2500" dirty="0"/>
          </a:p>
        </p:txBody>
      </p:sp>
      <p:sp>
        <p:nvSpPr>
          <p:cNvPr id="6" name="chrome:panel"/>
          <p:cNvSpPr/>
          <p:nvPr/>
        </p:nvSpPr>
        <p:spPr>
          <a:xfrm>
            <a:off x="713232" y="1600200"/>
            <a:ext cx="10744200" cy="4160520"/>
          </a:xfrm>
          <a:prstGeom prst="roundRect">
            <a:avLst>
              <a:gd name="adj" fmla="val 1758"/>
            </a:avLst>
          </a:prstGeom>
          <a:solidFill>
            <a:srgbClr val="DBEAFE">
              <a:alpha val="82000"/>
            </a:srgbClr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7" name="ph:items"/>
          <p:cNvSpPr/>
          <p:nvPr/>
        </p:nvSpPr>
        <p:spPr>
          <a:xfrm>
            <a:off x="1078992" y="2029968"/>
            <a:ext cx="1001268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033"/>
                </a:solidFill>
              </a:rPr>
              <a:t>1. Question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033"/>
                </a:solidFill>
              </a:rPr>
              <a:t>2. Practice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033"/>
                </a:solidFill>
              </a:rPr>
              <a:t>3. Feedback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:canvas"/>
          <p:cNvSpPr/>
          <p:nvPr/>
        </p:nvSpPr>
        <p:spPr>
          <a:xfrm>
            <a:off x="256032" y="237744"/>
            <a:ext cx="11686032" cy="635508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chrome:accent"/>
          <p:cNvSpPr/>
          <p:nvPr/>
        </p:nvSpPr>
        <p:spPr>
          <a:xfrm>
            <a:off x="493776" y="475488"/>
            <a:ext cx="91440" cy="5852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ph:title"/>
          <p:cNvSpPr/>
          <p:nvPr/>
        </p:nvSpPr>
        <p:spPr>
          <a:xfrm>
            <a:off x="804672" y="239572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2033"/>
                </a:solidFill>
              </a:rPr>
              <a:t>Thank you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r-series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Medical Teaching Template</dc:title>
  <dc:subject>Generated neutral demo template</dc:subject>
  <dc:creator>rDeckForge</dc:creator>
  <cp:lastModifiedBy>rDeckForge</cp:lastModifiedBy>
  <cp:revision>1</cp:revision>
  <dcterms:created xsi:type="dcterms:W3CDTF">2026-06-23T06:35:35Z</dcterms:created>
  <dcterms:modified xsi:type="dcterms:W3CDTF">2026-06-23T06:35:35Z</dcterms:modified>
</cp:coreProperties>
</file>